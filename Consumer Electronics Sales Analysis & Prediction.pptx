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add13/Consumer_Electronics_Sales_Analysis_Prediction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62262" y="4141998"/>
            <a:ext cx="4180114" cy="2329922"/>
          </a:xfrm>
        </p:spPr>
        <p:txBody>
          <a:bodyPr>
            <a:noAutofit/>
          </a:bodyPr>
          <a:lstStyle/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DURGA PRASAD PAMPANA </a:t>
            </a:r>
          </a:p>
          <a:p>
            <a:r>
              <a:rPr lang="en-US" sz="1600" b="0" dirty="0">
                <a:solidFill>
                  <a:schemeClr val="tx1"/>
                </a:solidFill>
              </a:rPr>
              <a:t>ADIKAVI NANNAYA UNIVERSITY</a:t>
            </a:r>
          </a:p>
          <a:p>
            <a:r>
              <a:rPr lang="en-US" sz="1600" b="0" dirty="0">
                <a:solidFill>
                  <a:schemeClr val="tx1"/>
                </a:solidFill>
              </a:rPr>
              <a:t>COLLEGE OF ENGINEERING</a:t>
            </a:r>
          </a:p>
          <a:p>
            <a:r>
              <a:rPr lang="en-IN" sz="1600" b="0" dirty="0">
                <a:solidFill>
                  <a:schemeClr val="tx1"/>
                </a:solidFill>
              </a:rPr>
              <a:t>AICTE STUDENTID  STU6829b8957b2991747564693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2584580"/>
            <a:ext cx="10795518" cy="1380930"/>
          </a:xfrm>
        </p:spPr>
        <p:txBody>
          <a:bodyPr>
            <a:noAutofit/>
          </a:bodyPr>
          <a:lstStyle/>
          <a:p>
            <a:r>
              <a:rPr lang="en-US" sz="3600" b="1" dirty="0" err="1"/>
              <a:t>Consumer_Electronics_Sales_Analysis_Prediction</a:t>
            </a:r>
            <a:br>
              <a:rPr lang="en-US" sz="3600" b="1" dirty="0"/>
            </a:br>
            <a:r>
              <a:rPr lang="en-US" sz="3600" b="1" dirty="0"/>
              <a:t>                                                       </a:t>
            </a:r>
            <a:r>
              <a:rPr lang="en-US" sz="3600" b="1" dirty="0" err="1"/>
              <a:t>By_TIRTC</a:t>
            </a:r>
            <a:endParaRPr lang="en-IN" sz="36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1369" y="1625006"/>
            <a:ext cx="6809896" cy="3607987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consumer electronics purchasing </a:t>
            </a:r>
            <a:r>
              <a:rPr lang="en-IN" dirty="0" err="1"/>
              <a:t>behavior</a:t>
            </a:r>
            <a:r>
              <a:rPr lang="en-IN" dirty="0"/>
              <a:t> using customer and product data, identify the key factors affecting purchase intent and customer satisfaction, and build a model to predict whether a customer is likely to purchase a product.</a:t>
            </a:r>
          </a:p>
          <a:p>
            <a:r>
              <a:rPr lang="en-IN" dirty="0"/>
              <a:t>Key Focus: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customer and product trends </a:t>
            </a:r>
          </a:p>
          <a:p>
            <a:pPr lvl="0"/>
            <a:r>
              <a:rPr lang="en-IN" dirty="0"/>
              <a:t>Identify factors influencing purchase intent </a:t>
            </a:r>
          </a:p>
          <a:p>
            <a:pPr lvl="0"/>
            <a:r>
              <a:rPr lang="en-IN" dirty="0"/>
              <a:t>Understand customer satisfaction </a:t>
            </a:r>
          </a:p>
          <a:p>
            <a:pPr lvl="0"/>
            <a:r>
              <a:rPr lang="en-IN" dirty="0"/>
              <a:t>Predict potential purchases using data </a:t>
            </a:r>
          </a:p>
          <a:p>
            <a:r>
              <a:rPr lang="en-IN" dirty="0"/>
              <a:t>Goal: Help businesses make better sales, marketing, and customer-targeting decisions.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780991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D6A04E-4923-2285-0817-F0AE26D87C4C}"/>
              </a:ext>
            </a:extLst>
          </p:cNvPr>
          <p:cNvSpPr txBox="1"/>
          <p:nvPr/>
        </p:nvSpPr>
        <p:spPr>
          <a:xfrm>
            <a:off x="811763" y="2146040"/>
            <a:ext cx="68673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project </a:t>
            </a:r>
            <a:r>
              <a:rPr lang="en-IN" dirty="0" err="1"/>
              <a:t>analyzes</a:t>
            </a:r>
            <a:r>
              <a:rPr lang="en-IN" dirty="0"/>
              <a:t> consumer electronics sales and customer </a:t>
            </a:r>
            <a:r>
              <a:rPr lang="en-IN" dirty="0" err="1"/>
              <a:t>behavior</a:t>
            </a:r>
            <a:r>
              <a:rPr lang="en-IN" dirty="0"/>
              <a:t> using product and customer data. It explores factors such as product category, brand, price, customer age, gender, purchase frequency, and satisfaction to understand purchasing patterns.</a:t>
            </a:r>
          </a:p>
          <a:p>
            <a:r>
              <a:rPr lang="en-IN" dirty="0"/>
              <a:t>The project also identifies the key factors affecting Purchase Intent and uses data analysis and machine learning to predict customer purchase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Tools: Python, Pandas, Matplotlib, Seaborn, Scikit-learn,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184989"/>
            <a:ext cx="7909457" cy="48239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600" b="1" dirty="0"/>
              <a:t>END USERS FOR THIS PROJECT:</a:t>
            </a:r>
          </a:p>
          <a:p>
            <a:pPr lvl="0"/>
            <a:r>
              <a:rPr lang="en-IN" sz="4000" b="1" dirty="0"/>
              <a:t>Sales &amp; Marketing Teams</a:t>
            </a:r>
            <a:r>
              <a:rPr lang="en-IN" sz="4000" dirty="0"/>
              <a:t> – Identify potential customers and improve marketing strategies. </a:t>
            </a:r>
          </a:p>
          <a:p>
            <a:pPr lvl="0"/>
            <a:r>
              <a:rPr lang="en-IN" sz="4000" b="1" dirty="0"/>
              <a:t>Business Analysts</a:t>
            </a:r>
            <a:r>
              <a:rPr lang="en-IN" sz="4000" dirty="0"/>
              <a:t> – </a:t>
            </a:r>
            <a:r>
              <a:rPr lang="en-IN" sz="4000" dirty="0" err="1"/>
              <a:t>Analyze</a:t>
            </a:r>
            <a:r>
              <a:rPr lang="en-IN" sz="4000" dirty="0"/>
              <a:t> customer </a:t>
            </a:r>
            <a:r>
              <a:rPr lang="en-IN" sz="4000" dirty="0" err="1"/>
              <a:t>behavior</a:t>
            </a:r>
            <a:r>
              <a:rPr lang="en-IN" sz="4000" dirty="0"/>
              <a:t> and product trends. </a:t>
            </a:r>
          </a:p>
          <a:p>
            <a:pPr lvl="0"/>
            <a:r>
              <a:rPr lang="en-IN" sz="4000" b="1" dirty="0"/>
              <a:t>Product Managers</a:t>
            </a:r>
            <a:r>
              <a:rPr lang="en-IN" sz="4000" dirty="0"/>
              <a:t> – Understand product and brand preferences. </a:t>
            </a:r>
          </a:p>
          <a:p>
            <a:pPr lvl="0"/>
            <a:r>
              <a:rPr lang="en-IN" sz="4000" b="1" dirty="0"/>
              <a:t>E-commerce &amp; Retail Businesses</a:t>
            </a:r>
            <a:r>
              <a:rPr lang="en-IN" sz="4000" dirty="0"/>
              <a:t> – Improve sales and customer targeting. </a:t>
            </a:r>
          </a:p>
          <a:p>
            <a:pPr lvl="0"/>
            <a:r>
              <a:rPr lang="en-IN" sz="4000" b="1" dirty="0"/>
              <a:t>Business Managers</a:t>
            </a:r>
            <a:r>
              <a:rPr lang="en-IN" sz="4000" dirty="0"/>
              <a:t> – Make data-driven decisions and improve business performance</a:t>
            </a:r>
          </a:p>
          <a:p>
            <a:pPr marL="0" indent="0">
              <a:buNone/>
            </a:pPr>
            <a:endParaRPr lang="en-IN" sz="4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569167"/>
            <a:ext cx="10046070" cy="61582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507412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36915" y="1194318"/>
            <a:ext cx="8854750" cy="548169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/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5600" dirty="0"/>
              <a:t>Used as the primary programming language for data analysis and visualization.</a:t>
            </a:r>
          </a:p>
          <a:p>
            <a:pPr marL="0" indent="0">
              <a:buNone/>
            </a:pPr>
            <a:r>
              <a:rPr lang="en-IN" sz="5600" b="1" dirty="0"/>
              <a:t> Pandas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5600" dirty="0"/>
              <a:t>Used for data cleaning, preprocessing, filtering, grouping, and analysis.</a:t>
            </a:r>
          </a:p>
          <a:p>
            <a:pPr marL="0" indent="0">
              <a:buNone/>
            </a:pPr>
            <a:r>
              <a:rPr lang="en-IN" sz="5600" b="1" dirty="0"/>
              <a:t> NumPy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5600" dirty="0"/>
              <a:t>Used for numerical calculations and data manipulation.</a:t>
            </a:r>
          </a:p>
          <a:p>
            <a:pPr marL="0" indent="0">
              <a:buNone/>
            </a:pPr>
            <a:r>
              <a:rPr lang="en-IN" sz="5600" b="1" dirty="0"/>
              <a:t> Matplotlib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5600" dirty="0"/>
              <a:t>Used to create bar charts, line charts, scatter plots, histograms, and other visualizations.</a:t>
            </a:r>
          </a:p>
          <a:p>
            <a:pPr marL="0" indent="0">
              <a:buNone/>
            </a:pPr>
            <a:r>
              <a:rPr lang="en-IN" sz="5600" b="1" dirty="0"/>
              <a:t>Seaborn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5600" dirty="0"/>
              <a:t>Used to create advanced statistical visualizations, including boxplots, heatmaps, and categorical charts.</a:t>
            </a:r>
          </a:p>
          <a:p>
            <a:pPr marL="0" indent="0">
              <a:buNone/>
            </a:pPr>
            <a:r>
              <a:rPr lang="en-IN" sz="5600" b="1" dirty="0"/>
              <a:t>Google </a:t>
            </a:r>
            <a:r>
              <a:rPr lang="en-IN" sz="5600" b="1" dirty="0" err="1"/>
              <a:t>Colab</a:t>
            </a:r>
            <a:endParaRPr lang="en-IN" sz="56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5600" dirty="0"/>
              <a:t>Used as the cloud-based coding and analysis environment for running Python code and performing the project analysis.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hlinkClick r:id="rId3"/>
              </a:rPr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014DC-0457-8945-2C2B-D1976CCF99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8851"/>
            <a:ext cx="8309423" cy="49132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D7952C-8B6A-B7DA-30BA-8FC8F9CFA2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2373" y="1902072"/>
            <a:ext cx="6428111" cy="412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CB97-648E-6FC2-6D7E-D369C18D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28EC43-E6BA-3E53-DC14-7F714BF17A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653482A-812C-5C14-53FE-410EB9C2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08280C-D080-345E-5D84-7AB71921B6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47233BF-E2AE-43BF-1416-E6B58EF0392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BF60CB2-9543-258E-B3D0-EED594397701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hlinkClick r:id="rId3"/>
              </a:rPr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5EA599-31EE-BAB8-0B6D-0DCAC26DF1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75269" y="1902072"/>
            <a:ext cx="6342320" cy="412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8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0614-774D-0739-F3E1-F8DD64AD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4C4F3A-110D-C90A-6028-9AB865C5D5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E6CE41-292F-C89E-8C3C-B2CFEAA61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92E5BF7-2CFA-C892-A427-6CF795148E7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26B5F00-0ECD-034B-008E-A08A85D5E72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1BC85F3-E0F5-3A81-0296-BB75627C1249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3038698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hlinkClick r:id="rId3"/>
              </a:rPr>
              <a:t> </a:t>
            </a:r>
            <a:r>
              <a:rPr lang="en-GB" sz="24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5BC74C-5F24-F2BB-B0CC-56DC0F007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664" y="1791616"/>
            <a:ext cx="6641928" cy="364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A464-8C96-3127-2BF1-DE815EE5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67152C-DD7A-4DBD-03E0-33FABA99A8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13E83D-A184-F693-F073-CC01A9DE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91D5895-2328-E0C3-6035-CB321A73B3D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A9098AE-C658-237C-E6E5-48900F6E20A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D98B8D82-815D-F73D-56D7-4210CE2A5731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hlinkClick r:id="rId3"/>
              </a:rPr>
              <a:t> </a:t>
            </a:r>
            <a:r>
              <a:rPr lang="en-GB" sz="24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E0F3A2-BF29-353C-2729-DA213BB287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6753" y="1645931"/>
            <a:ext cx="6119350" cy="384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DBF0-507D-294D-3473-C5606F8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341CCE-A9DE-540A-2757-94A80C5E8E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4478A40-7948-012D-A4D4-64D92E34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139DD16-65C5-F5D6-98D0-FC51D056388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AEB7322-4928-524F-FE5B-18EA41274FC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43FBFF2-0D47-5109-2866-52FDD2575857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hlinkClick r:id="rId3"/>
              </a:rPr>
              <a:t> </a:t>
            </a:r>
            <a:r>
              <a:rPr lang="en-GB" sz="24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2D5025-F7E4-36DC-2798-97A7EAE080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66668" y="1645930"/>
            <a:ext cx="6359522" cy="39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9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9FB4-012E-DDE2-38B5-6C1C6199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9F1811-3CFD-9016-4C23-4CCCECDDBE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4E0889-9A19-33A2-817C-42785BE8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C02B138-961F-5633-A2CE-9667A801F7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C789309-E0FA-BE65-F5BC-95CC595A676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E51B5DA-3EA3-53E6-6C93-4F31196120AB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hlinkClick r:id="rId3"/>
              </a:rPr>
              <a:t> </a:t>
            </a:r>
            <a:r>
              <a:rPr lang="en-GB" sz="24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3D15A2-F387-6FE8-B4E0-22865168F3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98596" y="1575883"/>
            <a:ext cx="6510700" cy="412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4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CE2D-38F9-105B-81EA-940A79FB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FC24E0-6A36-5598-CC62-6D6A8BF3CD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7C393D-013C-27D8-E078-14AF3C07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92D1AE6-0BC1-6895-1499-BB158B8BDDA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ABB27F-4366-2123-684E-63B2D21870A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2EA101-C29A-768E-2A80-93FA0825CF80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hlinkClick r:id="rId3"/>
              </a:rPr>
              <a:t> </a:t>
            </a:r>
            <a:r>
              <a:rPr lang="en-GB" sz="24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15D1B5-DABC-B756-56D7-CAE0655F1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519" y="1128795"/>
            <a:ext cx="6098591" cy="497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6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138FF-4BDA-C467-21A6-8C801790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206E84-C750-3B81-8509-D5EBA7B8E6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B2BAC81-12AE-0068-7F5E-EF61C9A6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D9A120D-7178-DD68-06CB-62B49582EC3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E5D3F64-7E52-6A34-C907-0586A796216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F057709-FCAD-010F-9BEE-1E7B0BAD3409}"/>
              </a:ext>
            </a:extLst>
          </p:cNvPr>
          <p:cNvSpPr txBox="1">
            <a:spLocks/>
          </p:cNvSpPr>
          <p:nvPr/>
        </p:nvSpPr>
        <p:spPr>
          <a:xfrm>
            <a:off x="422959" y="6027576"/>
            <a:ext cx="298164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>
                <a:hlinkClick r:id="rId3"/>
              </a:rPr>
              <a:t> </a:t>
            </a:r>
            <a:r>
              <a:rPr lang="en-GB" sz="24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2F7381-48BF-90D5-5425-AA3356344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75492" y="1902072"/>
            <a:ext cx="6356908" cy="412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8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699"/>
            <a:ext cx="11340000" cy="448413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651</TotalTime>
  <Words>383</Words>
  <Application>Microsoft Office PowerPoint</Application>
  <PresentationFormat>Widescreen</PresentationFormat>
  <Paragraphs>58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Consumer_Electronics_Sales_Analysis_Prediction                                                        By_TIRTC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Durga Prasad Pampana</cp:lastModifiedBy>
  <cp:revision>81</cp:revision>
  <dcterms:created xsi:type="dcterms:W3CDTF">2021-07-11T13:13:15Z</dcterms:created>
  <dcterms:modified xsi:type="dcterms:W3CDTF">2026-10-03T10:00:24Z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